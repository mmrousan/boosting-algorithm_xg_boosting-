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handoutMasterIdLst>
    <p:handoutMasterId r:id="rId13"/>
  </p:handoutMasterIdLst>
  <p:sldIdLst>
    <p:sldId id="256" r:id="rId5"/>
    <p:sldId id="266" r:id="rId6"/>
    <p:sldId id="1519" r:id="rId7"/>
    <p:sldId id="1520" r:id="rId8"/>
    <p:sldId id="1515" r:id="rId9"/>
    <p:sldId id="1517" r:id="rId10"/>
    <p:sldId id="151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8"/>
  </p:normalViewPr>
  <p:slideViewPr>
    <p:cSldViewPr snapToGrid="0">
      <p:cViewPr varScale="1">
        <p:scale>
          <a:sx n="78" d="100"/>
          <a:sy n="78" d="100"/>
        </p:scale>
        <p:origin x="82" y="43"/>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2" Type="http://schemas.openxmlformats.org/officeDocument/2006/relationships/hyperlink" Target="https://www.youtube.com/watch?v=ujKt3JdI2B8" TargetMode="External"/><Relationship Id="rId1" Type="http://schemas.openxmlformats.org/officeDocument/2006/relationships/hyperlink" Target="https://www.geeksforgeeks.org/machine-learning/xgboost-for-regression/"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www.youtube.com/watch?v=ujKt3JdI2B8" TargetMode="External"/><Relationship Id="rId1" Type="http://schemas.openxmlformats.org/officeDocument/2006/relationships/hyperlink" Target="https://www.geeksforgeeks.org/machine-learning/xgboost-for-regression/"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86E740-E0A6-4B68-AD1F-C723971761D2}"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A78F0F6C-19D4-4D5F-95BF-1279501787AE}">
      <dgm:prSet/>
      <dgm:spPr/>
      <dgm:t>
        <a:bodyPr/>
        <a:lstStyle/>
        <a:p>
          <a:r>
            <a:rPr lang="en-US"/>
            <a:t>XGBoost (Extreme Gradient Boosting) regression works by sequentially building an ensemble of decision trees, where each new tree is trained specifically to predict and correct the errors (residuals) made by all previous trees combined</a:t>
          </a:r>
        </a:p>
      </dgm:t>
    </dgm:pt>
    <dgm:pt modelId="{14C2A701-A494-43EB-B089-8803012B2C17}" type="parTrans" cxnId="{AE7C35C0-735C-4BEC-9375-6F4D3E0EE916}">
      <dgm:prSet/>
      <dgm:spPr/>
      <dgm:t>
        <a:bodyPr/>
        <a:lstStyle/>
        <a:p>
          <a:endParaRPr lang="en-US"/>
        </a:p>
      </dgm:t>
    </dgm:pt>
    <dgm:pt modelId="{BAA3A2A3-E995-4AE6-9631-BFEFEFBCDED7}" type="sibTrans" cxnId="{AE7C35C0-735C-4BEC-9375-6F4D3E0EE916}">
      <dgm:prSet/>
      <dgm:spPr/>
      <dgm:t>
        <a:bodyPr/>
        <a:lstStyle/>
        <a:p>
          <a:endParaRPr lang="en-US"/>
        </a:p>
      </dgm:t>
    </dgm:pt>
    <dgm:pt modelId="{780746B7-2A17-4729-A668-492DF3ECB807}">
      <dgm:prSet/>
      <dgm:spPr/>
      <dgm:t>
        <a:bodyPr/>
        <a:lstStyle/>
        <a:p>
          <a:r>
            <a:rPr lang="en-US"/>
            <a:t>Unlike traditional gradient boosting, XGBoost incorporates an advanced mathematical framework that integrates strict regularization directly into the tree-building process to maximize accuracy while preventing overfitting. [</a:t>
          </a:r>
          <a:r>
            <a:rPr lang="en-US">
              <a:hlinkClick xmlns:r="http://schemas.openxmlformats.org/officeDocument/2006/relationships" r:id="rId1"/>
            </a:rPr>
            <a:t>1</a:t>
          </a:r>
          <a:r>
            <a:rPr lang="en-US"/>
            <a:t>, </a:t>
          </a:r>
          <a:r>
            <a:rPr lang="en-US">
              <a:hlinkClick xmlns:r="http://schemas.openxmlformats.org/officeDocument/2006/relationships" r:id="rId2"/>
            </a:rPr>
            <a:t>2</a:t>
          </a:r>
          <a:r>
            <a:rPr lang="en-US"/>
            <a:t>]</a:t>
          </a:r>
        </a:p>
      </dgm:t>
    </dgm:pt>
    <dgm:pt modelId="{EEECF6D4-78D3-46B4-8321-047AAD705AAE}" type="parTrans" cxnId="{48968BF3-F632-4A93-AAA6-E98704105BDF}">
      <dgm:prSet/>
      <dgm:spPr/>
      <dgm:t>
        <a:bodyPr/>
        <a:lstStyle/>
        <a:p>
          <a:endParaRPr lang="en-US"/>
        </a:p>
      </dgm:t>
    </dgm:pt>
    <dgm:pt modelId="{50A24BBF-BFDD-4227-8D24-3D6364DC4374}" type="sibTrans" cxnId="{48968BF3-F632-4A93-AAA6-E98704105BDF}">
      <dgm:prSet/>
      <dgm:spPr/>
      <dgm:t>
        <a:bodyPr/>
        <a:lstStyle/>
        <a:p>
          <a:endParaRPr lang="en-US"/>
        </a:p>
      </dgm:t>
    </dgm:pt>
    <dgm:pt modelId="{D1F8D4CF-F03B-44EC-86C3-FDD372D69459}" type="pres">
      <dgm:prSet presAssocID="{C286E740-E0A6-4B68-AD1F-C723971761D2}" presName="linear" presStyleCnt="0">
        <dgm:presLayoutVars>
          <dgm:animLvl val="lvl"/>
          <dgm:resizeHandles val="exact"/>
        </dgm:presLayoutVars>
      </dgm:prSet>
      <dgm:spPr/>
    </dgm:pt>
    <dgm:pt modelId="{A421DA36-1E62-47AE-A7EA-3A4A06CE6197}" type="pres">
      <dgm:prSet presAssocID="{A78F0F6C-19D4-4D5F-95BF-1279501787AE}" presName="parentText" presStyleLbl="node1" presStyleIdx="0" presStyleCnt="2">
        <dgm:presLayoutVars>
          <dgm:chMax val="0"/>
          <dgm:bulletEnabled val="1"/>
        </dgm:presLayoutVars>
      </dgm:prSet>
      <dgm:spPr/>
    </dgm:pt>
    <dgm:pt modelId="{0B471827-3EBF-4301-A5E0-CCCE48D6FBE1}" type="pres">
      <dgm:prSet presAssocID="{BAA3A2A3-E995-4AE6-9631-BFEFEFBCDED7}" presName="spacer" presStyleCnt="0"/>
      <dgm:spPr/>
    </dgm:pt>
    <dgm:pt modelId="{1825FF94-A5F2-4F47-B053-62EE732C9AE7}" type="pres">
      <dgm:prSet presAssocID="{780746B7-2A17-4729-A668-492DF3ECB807}" presName="parentText" presStyleLbl="node1" presStyleIdx="1" presStyleCnt="2">
        <dgm:presLayoutVars>
          <dgm:chMax val="0"/>
          <dgm:bulletEnabled val="1"/>
        </dgm:presLayoutVars>
      </dgm:prSet>
      <dgm:spPr/>
    </dgm:pt>
  </dgm:ptLst>
  <dgm:cxnLst>
    <dgm:cxn modelId="{69397E0F-EA30-476E-B26F-E6AE3A83AD86}" type="presOf" srcId="{A78F0F6C-19D4-4D5F-95BF-1279501787AE}" destId="{A421DA36-1E62-47AE-A7EA-3A4A06CE6197}" srcOrd="0" destOrd="0" presId="urn:microsoft.com/office/officeart/2005/8/layout/vList2"/>
    <dgm:cxn modelId="{D322B04F-7272-400A-BC59-96EC5FF996EE}" type="presOf" srcId="{C286E740-E0A6-4B68-AD1F-C723971761D2}" destId="{D1F8D4CF-F03B-44EC-86C3-FDD372D69459}" srcOrd="0" destOrd="0" presId="urn:microsoft.com/office/officeart/2005/8/layout/vList2"/>
    <dgm:cxn modelId="{B83A3F8D-EE4B-4C0D-9EF8-54FED9322F2D}" type="presOf" srcId="{780746B7-2A17-4729-A668-492DF3ECB807}" destId="{1825FF94-A5F2-4F47-B053-62EE732C9AE7}" srcOrd="0" destOrd="0" presId="urn:microsoft.com/office/officeart/2005/8/layout/vList2"/>
    <dgm:cxn modelId="{AE7C35C0-735C-4BEC-9375-6F4D3E0EE916}" srcId="{C286E740-E0A6-4B68-AD1F-C723971761D2}" destId="{A78F0F6C-19D4-4D5F-95BF-1279501787AE}" srcOrd="0" destOrd="0" parTransId="{14C2A701-A494-43EB-B089-8803012B2C17}" sibTransId="{BAA3A2A3-E995-4AE6-9631-BFEFEFBCDED7}"/>
    <dgm:cxn modelId="{48968BF3-F632-4A93-AAA6-E98704105BDF}" srcId="{C286E740-E0A6-4B68-AD1F-C723971761D2}" destId="{780746B7-2A17-4729-A668-492DF3ECB807}" srcOrd="1" destOrd="0" parTransId="{EEECF6D4-78D3-46B4-8321-047AAD705AAE}" sibTransId="{50A24BBF-BFDD-4227-8D24-3D6364DC4374}"/>
    <dgm:cxn modelId="{8DE1213C-ABA8-4AD3-BEA0-121D3CB073F8}" type="presParOf" srcId="{D1F8D4CF-F03B-44EC-86C3-FDD372D69459}" destId="{A421DA36-1E62-47AE-A7EA-3A4A06CE6197}" srcOrd="0" destOrd="0" presId="urn:microsoft.com/office/officeart/2005/8/layout/vList2"/>
    <dgm:cxn modelId="{B14D40AA-F3DA-446D-B764-24BAC3A4228C}" type="presParOf" srcId="{D1F8D4CF-F03B-44EC-86C3-FDD372D69459}" destId="{0B471827-3EBF-4301-A5E0-CCCE48D6FBE1}" srcOrd="1" destOrd="0" presId="urn:microsoft.com/office/officeart/2005/8/layout/vList2"/>
    <dgm:cxn modelId="{D9A5ED95-ED1C-4A40-BEA5-79B5F0D89BF2}" type="presParOf" srcId="{D1F8D4CF-F03B-44EC-86C3-FDD372D69459}" destId="{1825FF94-A5F2-4F47-B053-62EE732C9AE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DA6230-363F-4658-9754-349984B395D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4735736-BEC3-4C99-89F6-E0A6DD6817AF}">
      <dgm:prSet/>
      <dgm:spPr/>
      <dgm:t>
        <a:bodyPr/>
        <a:lstStyle/>
        <a:p>
          <a:r>
            <a:rPr lang="en-US" b="1"/>
            <a:t>Built-in Regularization:</a:t>
          </a:r>
          <a:r>
            <a:rPr lang="en-US"/>
            <a:t> By utilizing λ (L2 regularization) and α (L1 regularization), it keeps leaf weights small and shrinks less important features to ensure excellent generalization</a:t>
          </a:r>
        </a:p>
      </dgm:t>
    </dgm:pt>
    <dgm:pt modelId="{91D6A78F-7936-4198-927B-D26B9A432B86}" type="parTrans" cxnId="{30E75756-461C-4D60-A70F-EC2C007F1333}">
      <dgm:prSet/>
      <dgm:spPr/>
      <dgm:t>
        <a:bodyPr/>
        <a:lstStyle/>
        <a:p>
          <a:endParaRPr lang="en-US"/>
        </a:p>
      </dgm:t>
    </dgm:pt>
    <dgm:pt modelId="{0DBD023E-8934-4B1F-A23D-845EFE939B1E}" type="sibTrans" cxnId="{30E75756-461C-4D60-A70F-EC2C007F1333}">
      <dgm:prSet/>
      <dgm:spPr/>
      <dgm:t>
        <a:bodyPr/>
        <a:lstStyle/>
        <a:p>
          <a:endParaRPr lang="en-US"/>
        </a:p>
      </dgm:t>
    </dgm:pt>
    <dgm:pt modelId="{2CA323B8-EA5D-40FA-AE7C-A17E5EFE6F94}">
      <dgm:prSet/>
      <dgm:spPr/>
      <dgm:t>
        <a:bodyPr/>
        <a:lstStyle/>
        <a:p>
          <a:r>
            <a:rPr lang="en-US" b="1"/>
            <a:t>Weighted Quantile Sketch:</a:t>
          </a:r>
          <a:r>
            <a:rPr lang="en-US"/>
            <a:t> Instead of scanning every single data point to find optimal split thresholds, XGBoost builds a mathematical histogram distribution to test only the most logical split points, making it incredibly fast on massive datasets</a:t>
          </a:r>
        </a:p>
      </dgm:t>
    </dgm:pt>
    <dgm:pt modelId="{8A29A315-7D97-4091-BFCD-9B9211682C87}" type="parTrans" cxnId="{963EF2A2-1782-4D4D-B8DC-6BFDC26FC3C9}">
      <dgm:prSet/>
      <dgm:spPr/>
      <dgm:t>
        <a:bodyPr/>
        <a:lstStyle/>
        <a:p>
          <a:endParaRPr lang="en-US"/>
        </a:p>
      </dgm:t>
    </dgm:pt>
    <dgm:pt modelId="{5807B106-315C-424A-9A7B-1CAE71195F3A}" type="sibTrans" cxnId="{963EF2A2-1782-4D4D-B8DC-6BFDC26FC3C9}">
      <dgm:prSet/>
      <dgm:spPr/>
      <dgm:t>
        <a:bodyPr/>
        <a:lstStyle/>
        <a:p>
          <a:endParaRPr lang="en-US"/>
        </a:p>
      </dgm:t>
    </dgm:pt>
    <dgm:pt modelId="{5FB4D2DF-B445-4670-9CAA-472FF48A1B06}">
      <dgm:prSet/>
      <dgm:spPr/>
      <dgm:t>
        <a:bodyPr/>
        <a:lstStyle/>
        <a:p>
          <a:r>
            <a:rPr lang="en-US" b="1"/>
            <a:t>Sparsity-Aware Splitting:</a:t>
          </a:r>
          <a:r>
            <a:rPr lang="en-US"/>
            <a:t> If a dataset contains missing values, XGBoost automatically assigns a default direction (left or right branch) for missing data based on which path minimizes loss, eliminating the strict requirement for manual data imputation</a:t>
          </a:r>
        </a:p>
      </dgm:t>
    </dgm:pt>
    <dgm:pt modelId="{9D2FD801-B91B-4BAF-8A48-C09560851961}" type="parTrans" cxnId="{68A09A53-E9A1-4B63-93B4-9BB861E5B8E0}">
      <dgm:prSet/>
      <dgm:spPr/>
      <dgm:t>
        <a:bodyPr/>
        <a:lstStyle/>
        <a:p>
          <a:endParaRPr lang="en-US"/>
        </a:p>
      </dgm:t>
    </dgm:pt>
    <dgm:pt modelId="{2B684630-D82E-4821-9BFF-BA7AE168125E}" type="sibTrans" cxnId="{68A09A53-E9A1-4B63-93B4-9BB861E5B8E0}">
      <dgm:prSet/>
      <dgm:spPr/>
      <dgm:t>
        <a:bodyPr/>
        <a:lstStyle/>
        <a:p>
          <a:endParaRPr lang="en-US"/>
        </a:p>
      </dgm:t>
    </dgm:pt>
    <dgm:pt modelId="{F6E70E36-8A7B-4B4C-B392-22CD1FC54946}" type="pres">
      <dgm:prSet presAssocID="{DFDA6230-363F-4658-9754-349984B395D9}" presName="linear" presStyleCnt="0">
        <dgm:presLayoutVars>
          <dgm:animLvl val="lvl"/>
          <dgm:resizeHandles val="exact"/>
        </dgm:presLayoutVars>
      </dgm:prSet>
      <dgm:spPr/>
    </dgm:pt>
    <dgm:pt modelId="{51ED364B-E645-4645-9CF4-A17D2761107D}" type="pres">
      <dgm:prSet presAssocID="{54735736-BEC3-4C99-89F6-E0A6DD6817AF}" presName="parentText" presStyleLbl="node1" presStyleIdx="0" presStyleCnt="3">
        <dgm:presLayoutVars>
          <dgm:chMax val="0"/>
          <dgm:bulletEnabled val="1"/>
        </dgm:presLayoutVars>
      </dgm:prSet>
      <dgm:spPr/>
    </dgm:pt>
    <dgm:pt modelId="{E1B7D901-ACA8-49DC-8039-1DDE446376E7}" type="pres">
      <dgm:prSet presAssocID="{0DBD023E-8934-4B1F-A23D-845EFE939B1E}" presName="spacer" presStyleCnt="0"/>
      <dgm:spPr/>
    </dgm:pt>
    <dgm:pt modelId="{FD4DB36A-7CA6-480A-8D37-E7FDC87290EA}" type="pres">
      <dgm:prSet presAssocID="{2CA323B8-EA5D-40FA-AE7C-A17E5EFE6F94}" presName="parentText" presStyleLbl="node1" presStyleIdx="1" presStyleCnt="3">
        <dgm:presLayoutVars>
          <dgm:chMax val="0"/>
          <dgm:bulletEnabled val="1"/>
        </dgm:presLayoutVars>
      </dgm:prSet>
      <dgm:spPr/>
    </dgm:pt>
    <dgm:pt modelId="{C3B5BD7B-746E-403C-9B76-22F8C441F304}" type="pres">
      <dgm:prSet presAssocID="{5807B106-315C-424A-9A7B-1CAE71195F3A}" presName="spacer" presStyleCnt="0"/>
      <dgm:spPr/>
    </dgm:pt>
    <dgm:pt modelId="{E053917E-55D3-4757-A8F0-1A1033F2ACE9}" type="pres">
      <dgm:prSet presAssocID="{5FB4D2DF-B445-4670-9CAA-472FF48A1B06}" presName="parentText" presStyleLbl="node1" presStyleIdx="2" presStyleCnt="3">
        <dgm:presLayoutVars>
          <dgm:chMax val="0"/>
          <dgm:bulletEnabled val="1"/>
        </dgm:presLayoutVars>
      </dgm:prSet>
      <dgm:spPr/>
    </dgm:pt>
  </dgm:ptLst>
  <dgm:cxnLst>
    <dgm:cxn modelId="{2DA3AF12-120B-4EFE-85DC-E172729DD9F3}" type="presOf" srcId="{DFDA6230-363F-4658-9754-349984B395D9}" destId="{F6E70E36-8A7B-4B4C-B392-22CD1FC54946}" srcOrd="0" destOrd="0" presId="urn:microsoft.com/office/officeart/2005/8/layout/vList2"/>
    <dgm:cxn modelId="{80E37B17-56C7-4CF5-B3D7-99623B31294E}" type="presOf" srcId="{5FB4D2DF-B445-4670-9CAA-472FF48A1B06}" destId="{E053917E-55D3-4757-A8F0-1A1033F2ACE9}" srcOrd="0" destOrd="0" presId="urn:microsoft.com/office/officeart/2005/8/layout/vList2"/>
    <dgm:cxn modelId="{68A09A53-E9A1-4B63-93B4-9BB861E5B8E0}" srcId="{DFDA6230-363F-4658-9754-349984B395D9}" destId="{5FB4D2DF-B445-4670-9CAA-472FF48A1B06}" srcOrd="2" destOrd="0" parTransId="{9D2FD801-B91B-4BAF-8A48-C09560851961}" sibTransId="{2B684630-D82E-4821-9BFF-BA7AE168125E}"/>
    <dgm:cxn modelId="{30E75756-461C-4D60-A70F-EC2C007F1333}" srcId="{DFDA6230-363F-4658-9754-349984B395D9}" destId="{54735736-BEC3-4C99-89F6-E0A6DD6817AF}" srcOrd="0" destOrd="0" parTransId="{91D6A78F-7936-4198-927B-D26B9A432B86}" sibTransId="{0DBD023E-8934-4B1F-A23D-845EFE939B1E}"/>
    <dgm:cxn modelId="{963EF2A2-1782-4D4D-B8DC-6BFDC26FC3C9}" srcId="{DFDA6230-363F-4658-9754-349984B395D9}" destId="{2CA323B8-EA5D-40FA-AE7C-A17E5EFE6F94}" srcOrd="1" destOrd="0" parTransId="{8A29A315-7D97-4091-BFCD-9B9211682C87}" sibTransId="{5807B106-315C-424A-9A7B-1CAE71195F3A}"/>
    <dgm:cxn modelId="{E63BB1EE-62FF-46BE-86B6-35E6AC3EDD39}" type="presOf" srcId="{2CA323B8-EA5D-40FA-AE7C-A17E5EFE6F94}" destId="{FD4DB36A-7CA6-480A-8D37-E7FDC87290EA}" srcOrd="0" destOrd="0" presId="urn:microsoft.com/office/officeart/2005/8/layout/vList2"/>
    <dgm:cxn modelId="{3C6201FB-2359-4C80-9CB9-889725C4C186}" type="presOf" srcId="{54735736-BEC3-4C99-89F6-E0A6DD6817AF}" destId="{51ED364B-E645-4645-9CF4-A17D2761107D}" srcOrd="0" destOrd="0" presId="urn:microsoft.com/office/officeart/2005/8/layout/vList2"/>
    <dgm:cxn modelId="{E99969CD-CB55-4750-8B5D-DBA260842783}" type="presParOf" srcId="{F6E70E36-8A7B-4B4C-B392-22CD1FC54946}" destId="{51ED364B-E645-4645-9CF4-A17D2761107D}" srcOrd="0" destOrd="0" presId="urn:microsoft.com/office/officeart/2005/8/layout/vList2"/>
    <dgm:cxn modelId="{83324D0F-B07F-4885-A5E6-C41463FE2FEB}" type="presParOf" srcId="{F6E70E36-8A7B-4B4C-B392-22CD1FC54946}" destId="{E1B7D901-ACA8-49DC-8039-1DDE446376E7}" srcOrd="1" destOrd="0" presId="urn:microsoft.com/office/officeart/2005/8/layout/vList2"/>
    <dgm:cxn modelId="{620CBAE6-CFD1-4779-9FF1-A33A7AAAED5C}" type="presParOf" srcId="{F6E70E36-8A7B-4B4C-B392-22CD1FC54946}" destId="{FD4DB36A-7CA6-480A-8D37-E7FDC87290EA}" srcOrd="2" destOrd="0" presId="urn:microsoft.com/office/officeart/2005/8/layout/vList2"/>
    <dgm:cxn modelId="{2F3FE9E3-66FA-42F2-9A38-5F09E77E1362}" type="presParOf" srcId="{F6E70E36-8A7B-4B4C-B392-22CD1FC54946}" destId="{C3B5BD7B-746E-403C-9B76-22F8C441F304}" srcOrd="3" destOrd="0" presId="urn:microsoft.com/office/officeart/2005/8/layout/vList2"/>
    <dgm:cxn modelId="{45AC6B6E-EA65-4C9B-BFE8-AF618611CDA9}" type="presParOf" srcId="{F6E70E36-8A7B-4B4C-B392-22CD1FC54946}" destId="{E053917E-55D3-4757-A8F0-1A1033F2ACE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21DA36-1E62-47AE-A7EA-3A4A06CE6197}">
      <dsp:nvSpPr>
        <dsp:cNvPr id="0" name=""/>
        <dsp:cNvSpPr/>
      </dsp:nvSpPr>
      <dsp:spPr>
        <a:xfrm>
          <a:off x="0" y="21239"/>
          <a:ext cx="7315200" cy="28431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XGBoost (Extreme Gradient Boosting) regression works by sequentially building an ensemble of decision trees, where each new tree is trained specifically to predict and correct the errors (residuals) made by all previous trees combined</a:t>
          </a:r>
        </a:p>
      </dsp:txBody>
      <dsp:txXfrm>
        <a:off x="138789" y="160028"/>
        <a:ext cx="7037622" cy="2565522"/>
      </dsp:txXfrm>
    </dsp:sp>
    <dsp:sp modelId="{1825FF94-A5F2-4F47-B053-62EE732C9AE7}">
      <dsp:nvSpPr>
        <dsp:cNvPr id="0" name=""/>
        <dsp:cNvSpPr/>
      </dsp:nvSpPr>
      <dsp:spPr>
        <a:xfrm>
          <a:off x="0" y="2942099"/>
          <a:ext cx="7315200" cy="28431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Unlike traditional gradient boosting, XGBoost incorporates an advanced mathematical framework that integrates strict regularization directly into the tree-building process to maximize accuracy while preventing overfitting. [</a:t>
          </a:r>
          <a:r>
            <a:rPr lang="en-US" sz="2700" kern="1200">
              <a:hlinkClick xmlns:r="http://schemas.openxmlformats.org/officeDocument/2006/relationships" r:id="rId1"/>
            </a:rPr>
            <a:t>1</a:t>
          </a:r>
          <a:r>
            <a:rPr lang="en-US" sz="2700" kern="1200"/>
            <a:t>, </a:t>
          </a:r>
          <a:r>
            <a:rPr lang="en-US" sz="2700" kern="1200">
              <a:hlinkClick xmlns:r="http://schemas.openxmlformats.org/officeDocument/2006/relationships" r:id="rId2"/>
            </a:rPr>
            <a:t>2</a:t>
          </a:r>
          <a:r>
            <a:rPr lang="en-US" sz="2700" kern="1200"/>
            <a:t>]</a:t>
          </a:r>
        </a:p>
      </dsp:txBody>
      <dsp:txXfrm>
        <a:off x="138789" y="3080888"/>
        <a:ext cx="7037622" cy="25655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ED364B-E645-4645-9CF4-A17D2761107D}">
      <dsp:nvSpPr>
        <dsp:cNvPr id="0" name=""/>
        <dsp:cNvSpPr/>
      </dsp:nvSpPr>
      <dsp:spPr>
        <a:xfrm>
          <a:off x="0" y="57884"/>
          <a:ext cx="7315200" cy="18565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Built-in Regularization:</a:t>
          </a:r>
          <a:r>
            <a:rPr lang="en-US" sz="2100" kern="1200"/>
            <a:t> By utilizing λ (L2 regularization) and α (L1 regularization), it keeps leaf weights small and shrinks less important features to ensure excellent generalization</a:t>
          </a:r>
        </a:p>
      </dsp:txBody>
      <dsp:txXfrm>
        <a:off x="90630" y="148514"/>
        <a:ext cx="7133940" cy="1675310"/>
      </dsp:txXfrm>
    </dsp:sp>
    <dsp:sp modelId="{FD4DB36A-7CA6-480A-8D37-E7FDC87290EA}">
      <dsp:nvSpPr>
        <dsp:cNvPr id="0" name=""/>
        <dsp:cNvSpPr/>
      </dsp:nvSpPr>
      <dsp:spPr>
        <a:xfrm>
          <a:off x="0" y="1974934"/>
          <a:ext cx="7315200" cy="18565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Weighted Quantile Sketch:</a:t>
          </a:r>
          <a:r>
            <a:rPr lang="en-US" sz="2100" kern="1200"/>
            <a:t> Instead of scanning every single data point to find optimal split thresholds, XGBoost builds a mathematical histogram distribution to test only the most logical split points, making it incredibly fast on massive datasets</a:t>
          </a:r>
        </a:p>
      </dsp:txBody>
      <dsp:txXfrm>
        <a:off x="90630" y="2065564"/>
        <a:ext cx="7133940" cy="1675310"/>
      </dsp:txXfrm>
    </dsp:sp>
    <dsp:sp modelId="{E053917E-55D3-4757-A8F0-1A1033F2ACE9}">
      <dsp:nvSpPr>
        <dsp:cNvPr id="0" name=""/>
        <dsp:cNvSpPr/>
      </dsp:nvSpPr>
      <dsp:spPr>
        <a:xfrm>
          <a:off x="0" y="3891985"/>
          <a:ext cx="7315200" cy="18565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Sparsity-Aware Splitting:</a:t>
          </a:r>
          <a:r>
            <a:rPr lang="en-US" sz="2100" kern="1200"/>
            <a:t> If a dataset contains missing values, XGBoost automatically assigns a default direction (left or right branch) for missing data based on which path minimizes loss, eliminating the strict requirement for manual data imputation</a:t>
          </a:r>
        </a:p>
      </dsp:txBody>
      <dsp:txXfrm>
        <a:off x="90630" y="3982615"/>
        <a:ext cx="7133940" cy="16753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06-Oct-26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06-Oct-26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06-Oct-26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06-Oct-26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06-Oct-26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06-Oct-26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06-Oct-26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06-Oct-26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06-Oct-26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06-Oct-26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06-Oct-26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06-Oct-26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06-Oct-26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06-Oct-26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06-Oct-26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06-Oct-26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06-Oct-26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06-Oct-26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7168896" y="1129554"/>
            <a:ext cx="4361688" cy="3475236"/>
          </a:xfrm>
        </p:spPr>
        <p:txBody>
          <a:bodyPr anchor="b">
            <a:normAutofit/>
          </a:bodyPr>
          <a:lstStyle/>
          <a:p>
            <a:r>
              <a:rPr lang="en-US" sz="3000" dirty="0"/>
              <a:t>Boosting Algorithm – </a:t>
            </a:r>
            <a:r>
              <a:rPr lang="en-US" sz="3000" dirty="0" err="1"/>
              <a:t>XG_Boost_Regression</a:t>
            </a:r>
            <a:endParaRPr lang="en-US" sz="3000" dirty="0"/>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7168897" y="4731335"/>
            <a:ext cx="4206240" cy="1184585"/>
          </a:xfrm>
        </p:spPr>
        <p:txBody>
          <a:bodyPr anchor="t">
            <a:normAutofit/>
          </a:bodyPr>
          <a:lstStyle/>
          <a:p>
            <a:r>
              <a:rPr lang="en-US" dirty="0"/>
              <a:t>Presented by Rousan</a:t>
            </a:r>
          </a:p>
        </p:txBody>
      </p:sp>
      <p:sp>
        <p:nvSpPr>
          <p:cNvPr id="2" name="AutoShape 2" descr="Generated image 1">
            <a:extLst>
              <a:ext uri="{FF2B5EF4-FFF2-40B4-BE49-F238E27FC236}">
                <a16:creationId xmlns:a16="http://schemas.microsoft.com/office/drawing/2014/main" id="{52B1E8E6-89AD-4F33-B4A6-1412F7275F33}"/>
              </a:ext>
            </a:extLst>
          </p:cNvPr>
          <p:cNvSpPr>
            <a:spLocks noChangeAspect="1" noChangeArrowheads="1"/>
          </p:cNvSpPr>
          <p:nvPr/>
        </p:nvSpPr>
        <p:spPr bwMode="auto">
          <a:xfrm>
            <a:off x="2187019" y="3276599"/>
            <a:ext cx="4061381" cy="40613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1">
            <a:extLst>
              <a:ext uri="{FF2B5EF4-FFF2-40B4-BE49-F238E27FC236}">
                <a16:creationId xmlns:a16="http://schemas.microsoft.com/office/drawing/2014/main" id="{1D3516B0-AB4C-4750-9A09-91285978C011}"/>
              </a:ext>
            </a:extLst>
          </p:cNvPr>
          <p:cNvSpPr>
            <a:spLocks noChangeAspect="1" noChangeArrowheads="1"/>
          </p:cNvSpPr>
          <p:nvPr/>
        </p:nvSpPr>
        <p:spPr bwMode="auto">
          <a:xfrm>
            <a:off x="4392891" y="3276600"/>
            <a:ext cx="1855509" cy="1625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A5907117-9512-4D4F-8BE8-BB4851FE547F}"/>
              </a:ext>
            </a:extLst>
          </p:cNvPr>
          <p:cNvPicPr>
            <a:picLocks noChangeAspect="1"/>
          </p:cNvPicPr>
          <p:nvPr/>
        </p:nvPicPr>
        <p:blipFill>
          <a:blip r:embed="rId2"/>
          <a:stretch>
            <a:fillRect/>
          </a:stretch>
        </p:blipFill>
        <p:spPr>
          <a:xfrm>
            <a:off x="80621" y="199800"/>
            <a:ext cx="6939611" cy="5334744"/>
          </a:xfrm>
          <a:prstGeom prst="rect">
            <a:avLst/>
          </a:prstGeom>
        </p:spPr>
      </p:pic>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6178E99-A518-1CD0-9A0A-6C5246F8B2A9}"/>
              </a:ext>
            </a:extLst>
          </p:cNvPr>
          <p:cNvSpPr>
            <a:spLocks noGrp="1"/>
          </p:cNvSpPr>
          <p:nvPr>
            <p:ph type="title"/>
          </p:nvPr>
        </p:nvSpPr>
        <p:spPr>
          <a:xfrm>
            <a:off x="6858000" y="1161288"/>
            <a:ext cx="4663440" cy="1554480"/>
          </a:xfrm>
        </p:spPr>
        <p:txBody>
          <a:bodyPr anchor="b">
            <a:normAutofit/>
          </a:bodyPr>
          <a:lstStyle/>
          <a:p>
            <a:r>
              <a:rPr lang="en-US" dirty="0" err="1"/>
              <a:t>XG_Boost</a:t>
            </a:r>
            <a:r>
              <a:rPr lang="en-US" dirty="0"/>
              <a:t> Regression</a:t>
            </a:r>
          </a:p>
        </p:txBody>
      </p:sp>
      <p:pic>
        <p:nvPicPr>
          <p:cNvPr id="5" name="Picture 4" descr="Vaccine storage and manufacturing">
            <a:extLst>
              <a:ext uri="{FF2B5EF4-FFF2-40B4-BE49-F238E27FC236}">
                <a16:creationId xmlns:a16="http://schemas.microsoft.com/office/drawing/2014/main" id="{5CB2DD63-261C-73DD-8E0C-D0D5830E8B27}"/>
              </a:ext>
            </a:extLst>
          </p:cNvPr>
          <p:cNvPicPr>
            <a:picLocks noChangeAspect="1"/>
          </p:cNvPicPr>
          <p:nvPr/>
        </p:nvPicPr>
        <p:blipFill>
          <a:blip r:embed="rId2"/>
          <a:srcRect l="24729" r="15907" b="-1"/>
          <a:stretch>
            <a:fillRect/>
          </a:stretch>
        </p:blipFill>
        <p:spPr>
          <a:xfrm>
            <a:off x="20" y="10"/>
            <a:ext cx="6099028" cy="6857990"/>
          </a:xfrm>
          <a:prstGeom prst="rect">
            <a:avLst/>
          </a:prstGeom>
          <a:noFill/>
        </p:spPr>
      </p:pic>
      <p:sp>
        <p:nvSpPr>
          <p:cNvPr id="3" name="Content Placeholder 2">
            <a:extLst>
              <a:ext uri="{FF2B5EF4-FFF2-40B4-BE49-F238E27FC236}">
                <a16:creationId xmlns:a16="http://schemas.microsoft.com/office/drawing/2014/main" id="{4227E922-AE57-EC70-406A-77ED03351FF3}"/>
              </a:ext>
            </a:extLst>
          </p:cNvPr>
          <p:cNvSpPr>
            <a:spLocks noGrp="1"/>
          </p:cNvSpPr>
          <p:nvPr>
            <p:ph sz="quarter" idx="13"/>
          </p:nvPr>
        </p:nvSpPr>
        <p:spPr>
          <a:xfrm>
            <a:off x="6858000" y="2825496"/>
            <a:ext cx="4663440" cy="3337560"/>
          </a:xfrm>
        </p:spPr>
        <p:txBody>
          <a:bodyPr>
            <a:normAutofit/>
          </a:bodyPr>
          <a:lstStyle/>
          <a:p>
            <a:pPr marL="0" indent="0" algn="just">
              <a:lnSpc>
                <a:spcPct val="110000"/>
              </a:lnSpc>
              <a:buNone/>
            </a:pPr>
            <a:r>
              <a:rPr lang="en-US" sz="1700" b="1" dirty="0" err="1"/>
              <a:t>XGBoost</a:t>
            </a:r>
            <a:r>
              <a:rPr lang="en-US" sz="1700" b="1" dirty="0"/>
              <a:t> Regression</a:t>
            </a:r>
            <a:r>
              <a:rPr lang="en-US" sz="1700" dirty="0"/>
              <a:t> (Extreme Gradient Boosting Regression) is a highly efficient, scalable, and optimized machine learning algorithm used to predict continuous numerical values (such as house prices, stock values, or temperature). It belongs to the family of </a:t>
            </a:r>
            <a:r>
              <a:rPr lang="en-US" sz="1700" b="1" dirty="0"/>
              <a:t>ensemble learning</a:t>
            </a:r>
            <a:r>
              <a:rPr lang="en-US" sz="1700" dirty="0"/>
              <a:t> algorithms, meaning it combines multiple weaker models to build one highly accurate predictive model</a:t>
            </a:r>
            <a:endParaRPr lang="en-US" sz="1700" b="0" dirty="0"/>
          </a:p>
          <a:p>
            <a:pPr>
              <a:lnSpc>
                <a:spcPct val="110000"/>
              </a:lnSpc>
            </a:pPr>
            <a:endParaRPr lang="en-US" sz="1700" b="0" dirty="0"/>
          </a:p>
        </p:txBody>
      </p:sp>
      <p:sp>
        <p:nvSpPr>
          <p:cNvPr id="2" name="Title 1">
            <a:extLst>
              <a:ext uri="{FF2B5EF4-FFF2-40B4-BE49-F238E27FC236}">
                <a16:creationId xmlns:a16="http://schemas.microsoft.com/office/drawing/2014/main" id="{8A497B4E-3C70-7F36-A4BF-7CA5CBC848F4}"/>
              </a:ext>
            </a:extLst>
          </p:cNvPr>
          <p:cNvSpPr>
            <a:spLocks noGrp="1"/>
          </p:cNvSpPr>
          <p:nvPr>
            <p:ph type="title"/>
          </p:nvPr>
        </p:nvSpPr>
        <p:spPr>
          <a:xfrm>
            <a:off x="612648" y="-1133856"/>
            <a:ext cx="10652760" cy="1133856"/>
          </a:xfrm>
        </p:spPr>
        <p:txBody>
          <a:bodyPr/>
          <a:lstStyle/>
          <a:p>
            <a:r>
              <a:rPr lang="en-US" dirty="0"/>
              <a:t>Delivering with confidence</a:t>
            </a:r>
          </a:p>
        </p:txBody>
      </p:sp>
    </p:spTree>
    <p:extLst>
      <p:ext uri="{BB962C8B-B14F-4D97-AF65-F5344CB8AC3E}">
        <p14:creationId xmlns:p14="http://schemas.microsoft.com/office/powerpoint/2010/main" val="3947552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7C8BB53-9E50-494B-8CC4-EEFFEE192215}"/>
              </a:ext>
            </a:extLst>
          </p:cNvPr>
          <p:cNvPicPr>
            <a:picLocks noGrp="1" noChangeAspect="1"/>
          </p:cNvPicPr>
          <p:nvPr>
            <p:ph type="pic" sz="quarter" idx="13"/>
          </p:nvPr>
        </p:nvPicPr>
        <p:blipFill>
          <a:blip r:embed="rId2"/>
          <a:stretch/>
        </p:blipFill>
        <p:spPr>
          <a:xfrm>
            <a:off x="2130528" y="68263"/>
            <a:ext cx="7930943" cy="6721475"/>
          </a:xfrm>
          <a:prstGeom prst="rect">
            <a:avLst/>
          </a:prstGeom>
          <a:noFill/>
        </p:spPr>
      </p:pic>
    </p:spTree>
    <p:extLst>
      <p:ext uri="{BB962C8B-B14F-4D97-AF65-F5344CB8AC3E}">
        <p14:creationId xmlns:p14="http://schemas.microsoft.com/office/powerpoint/2010/main" val="4083174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137159" y="151598"/>
            <a:ext cx="11924209" cy="528186"/>
          </a:xfrm>
        </p:spPr>
        <p:txBody>
          <a:bodyPr anchor="ctr">
            <a:normAutofit/>
          </a:bodyPr>
          <a:lstStyle/>
          <a:p>
            <a:r>
              <a:rPr lang="en-US" err="1"/>
              <a:t>XGBoost</a:t>
            </a:r>
            <a:r>
              <a:rPr lang="en-US"/>
              <a:t> Regressor — Key Parameters and Their Purpose</a:t>
            </a:r>
          </a:p>
        </p:txBody>
      </p:sp>
      <p:graphicFrame>
        <p:nvGraphicFramePr>
          <p:cNvPr id="6" name="Content Placeholder 5">
            <a:extLst>
              <a:ext uri="{FF2B5EF4-FFF2-40B4-BE49-F238E27FC236}">
                <a16:creationId xmlns:a16="http://schemas.microsoft.com/office/drawing/2014/main" id="{43E1E7D5-CEA5-4629-9622-0BF47E996F40}"/>
              </a:ext>
            </a:extLst>
          </p:cNvPr>
          <p:cNvGraphicFramePr>
            <a:graphicFrameLocks noGrp="1"/>
          </p:cNvGraphicFramePr>
          <p:nvPr>
            <p:ph idx="1"/>
            <p:extLst>
              <p:ext uri="{D42A27DB-BD31-4B8C-83A1-F6EECF244321}">
                <p14:modId xmlns:p14="http://schemas.microsoft.com/office/powerpoint/2010/main" val="942830215"/>
              </p:ext>
            </p:extLst>
          </p:nvPr>
        </p:nvGraphicFramePr>
        <p:xfrm>
          <a:off x="137159" y="1297894"/>
          <a:ext cx="11924210" cy="4633257"/>
        </p:xfrm>
        <a:graphic>
          <a:graphicData uri="http://schemas.openxmlformats.org/drawingml/2006/table">
            <a:tbl>
              <a:tblPr/>
              <a:tblGrid>
                <a:gridCol w="2717186">
                  <a:extLst>
                    <a:ext uri="{9D8B030D-6E8A-4147-A177-3AD203B41FA5}">
                      <a16:colId xmlns:a16="http://schemas.microsoft.com/office/drawing/2014/main" val="1571627939"/>
                    </a:ext>
                  </a:extLst>
                </a:gridCol>
                <a:gridCol w="9207024">
                  <a:extLst>
                    <a:ext uri="{9D8B030D-6E8A-4147-A177-3AD203B41FA5}">
                      <a16:colId xmlns:a16="http://schemas.microsoft.com/office/drawing/2014/main" val="2592121028"/>
                    </a:ext>
                  </a:extLst>
                </a:gridCol>
              </a:tblGrid>
              <a:tr h="315894">
                <a:tc>
                  <a:txBody>
                    <a:bodyPr/>
                    <a:lstStyle/>
                    <a:p>
                      <a:r>
                        <a:rPr lang="en-US" sz="1400"/>
                        <a:t>Parameter</a:t>
                      </a:r>
                    </a:p>
                  </a:txBody>
                  <a:tcPr marL="59172" marR="59172" marT="29586" marB="29586" anchor="ctr">
                    <a:lnL>
                      <a:noFill/>
                    </a:lnL>
                    <a:lnR>
                      <a:noFill/>
                    </a:lnR>
                    <a:lnT>
                      <a:noFill/>
                    </a:lnT>
                    <a:lnB>
                      <a:noFill/>
                    </a:lnB>
                  </a:tcPr>
                </a:tc>
                <a:tc>
                  <a:txBody>
                    <a:bodyPr/>
                    <a:lstStyle/>
                    <a:p>
                      <a:r>
                        <a:rPr lang="en-US" sz="1400"/>
                        <a:t>Purpose</a:t>
                      </a:r>
                    </a:p>
                  </a:txBody>
                  <a:tcPr marL="59172" marR="59172" marT="29586" marB="29586" anchor="ctr">
                    <a:lnL>
                      <a:noFill/>
                    </a:lnL>
                    <a:lnR>
                      <a:noFill/>
                    </a:lnR>
                    <a:lnT>
                      <a:noFill/>
                    </a:lnT>
                    <a:lnB>
                      <a:noFill/>
                    </a:lnB>
                  </a:tcPr>
                </a:tc>
                <a:extLst>
                  <a:ext uri="{0D108BD9-81ED-4DB2-BD59-A6C34878D82A}">
                    <a16:rowId xmlns:a16="http://schemas.microsoft.com/office/drawing/2014/main" val="4213693638"/>
                  </a:ext>
                </a:extLst>
              </a:tr>
              <a:tr h="315894">
                <a:tc>
                  <a:txBody>
                    <a:bodyPr/>
                    <a:lstStyle/>
                    <a:p>
                      <a:r>
                        <a:rPr lang="en-US" sz="1400"/>
                        <a:t>n_estimators</a:t>
                      </a:r>
                    </a:p>
                  </a:txBody>
                  <a:tcPr marL="59172" marR="59172" marT="29586" marB="29586" anchor="ctr">
                    <a:lnL>
                      <a:noFill/>
                    </a:lnL>
                    <a:lnR>
                      <a:noFill/>
                    </a:lnR>
                    <a:lnT>
                      <a:noFill/>
                    </a:lnT>
                    <a:lnB>
                      <a:noFill/>
                    </a:lnB>
                  </a:tcPr>
                </a:tc>
                <a:tc>
                  <a:txBody>
                    <a:bodyPr/>
                    <a:lstStyle/>
                    <a:p>
                      <a:r>
                        <a:rPr lang="en-US" sz="1400"/>
                        <a:t>Sets the number of boosting rounds, usually adding one tree per round.</a:t>
                      </a:r>
                    </a:p>
                  </a:txBody>
                  <a:tcPr marL="59172" marR="59172" marT="29586" marB="29586" anchor="ctr">
                    <a:lnL>
                      <a:noFill/>
                    </a:lnL>
                    <a:lnR>
                      <a:noFill/>
                    </a:lnR>
                    <a:lnT>
                      <a:noFill/>
                    </a:lnT>
                    <a:lnB>
                      <a:noFill/>
                    </a:lnB>
                  </a:tcPr>
                </a:tc>
                <a:extLst>
                  <a:ext uri="{0D108BD9-81ED-4DB2-BD59-A6C34878D82A}">
                    <a16:rowId xmlns:a16="http://schemas.microsoft.com/office/drawing/2014/main" val="3206431027"/>
                  </a:ext>
                </a:extLst>
              </a:tr>
              <a:tr h="315894">
                <a:tc>
                  <a:txBody>
                    <a:bodyPr/>
                    <a:lstStyle/>
                    <a:p>
                      <a:r>
                        <a:rPr lang="en-US" sz="1400"/>
                        <a:t>learning_rate</a:t>
                      </a:r>
                    </a:p>
                  </a:txBody>
                  <a:tcPr marL="59172" marR="59172" marT="29586" marB="29586" anchor="ctr">
                    <a:lnL>
                      <a:noFill/>
                    </a:lnL>
                    <a:lnR>
                      <a:noFill/>
                    </a:lnR>
                    <a:lnT>
                      <a:noFill/>
                    </a:lnT>
                    <a:lnB>
                      <a:noFill/>
                    </a:lnB>
                  </a:tcPr>
                </a:tc>
                <a:tc>
                  <a:txBody>
                    <a:bodyPr/>
                    <a:lstStyle/>
                    <a:p>
                      <a:r>
                        <a:rPr lang="en-US" sz="1400"/>
                        <a:t>Controls each new tree’s contribution. Smaller values generally require more trees.</a:t>
                      </a:r>
                    </a:p>
                  </a:txBody>
                  <a:tcPr marL="59172" marR="59172" marT="29586" marB="29586" anchor="ctr">
                    <a:lnL>
                      <a:noFill/>
                    </a:lnL>
                    <a:lnR>
                      <a:noFill/>
                    </a:lnR>
                    <a:lnT>
                      <a:noFill/>
                    </a:lnT>
                    <a:lnB>
                      <a:noFill/>
                    </a:lnB>
                  </a:tcPr>
                </a:tc>
                <a:extLst>
                  <a:ext uri="{0D108BD9-81ED-4DB2-BD59-A6C34878D82A}">
                    <a16:rowId xmlns:a16="http://schemas.microsoft.com/office/drawing/2014/main" val="3502032340"/>
                  </a:ext>
                </a:extLst>
              </a:tr>
              <a:tr h="315894">
                <a:tc>
                  <a:txBody>
                    <a:bodyPr/>
                    <a:lstStyle/>
                    <a:p>
                      <a:r>
                        <a:rPr lang="en-US" sz="1400"/>
                        <a:t>max_depth</a:t>
                      </a:r>
                    </a:p>
                  </a:txBody>
                  <a:tcPr marL="59172" marR="59172" marT="29586" marB="29586" anchor="ctr">
                    <a:lnL>
                      <a:noFill/>
                    </a:lnL>
                    <a:lnR>
                      <a:noFill/>
                    </a:lnR>
                    <a:lnT>
                      <a:noFill/>
                    </a:lnT>
                    <a:lnB>
                      <a:noFill/>
                    </a:lnB>
                  </a:tcPr>
                </a:tc>
                <a:tc>
                  <a:txBody>
                    <a:bodyPr/>
                    <a:lstStyle/>
                    <a:p>
                      <a:r>
                        <a:rPr lang="en-US" sz="1400"/>
                        <a:t>Sets the maximum depth of each tree. Deeper trees learn more complex patterns but may overfit.</a:t>
                      </a:r>
                    </a:p>
                  </a:txBody>
                  <a:tcPr marL="59172" marR="59172" marT="29586" marB="29586" anchor="ctr">
                    <a:lnL>
                      <a:noFill/>
                    </a:lnL>
                    <a:lnR>
                      <a:noFill/>
                    </a:lnR>
                    <a:lnT>
                      <a:noFill/>
                    </a:lnT>
                    <a:lnB>
                      <a:noFill/>
                    </a:lnB>
                  </a:tcPr>
                </a:tc>
                <a:extLst>
                  <a:ext uri="{0D108BD9-81ED-4DB2-BD59-A6C34878D82A}">
                    <a16:rowId xmlns:a16="http://schemas.microsoft.com/office/drawing/2014/main" val="1814096784"/>
                  </a:ext>
                </a:extLst>
              </a:tr>
              <a:tr h="526635">
                <a:tc>
                  <a:txBody>
                    <a:bodyPr/>
                    <a:lstStyle/>
                    <a:p>
                      <a:r>
                        <a:rPr lang="en-US" sz="1400"/>
                        <a:t>min_child_weight</a:t>
                      </a:r>
                    </a:p>
                  </a:txBody>
                  <a:tcPr marL="59172" marR="59172" marT="29586" marB="29586" anchor="ctr">
                    <a:lnL>
                      <a:noFill/>
                    </a:lnL>
                    <a:lnR>
                      <a:noFill/>
                    </a:lnR>
                    <a:lnT>
                      <a:noFill/>
                    </a:lnT>
                    <a:lnB>
                      <a:noFill/>
                    </a:lnB>
                  </a:tcPr>
                </a:tc>
                <a:tc>
                  <a:txBody>
                    <a:bodyPr/>
                    <a:lstStyle/>
                    <a:p>
                      <a:r>
                        <a:rPr lang="en-US" sz="1400"/>
                        <a:t>Sets the minimum sum of observation Hessians required in a child node. Higher values make splitting more conservative.</a:t>
                      </a:r>
                    </a:p>
                  </a:txBody>
                  <a:tcPr marL="59172" marR="59172" marT="29586" marB="29586" anchor="ctr">
                    <a:lnL>
                      <a:noFill/>
                    </a:lnL>
                    <a:lnR>
                      <a:noFill/>
                    </a:lnR>
                    <a:lnT>
                      <a:noFill/>
                    </a:lnT>
                    <a:lnB>
                      <a:noFill/>
                    </a:lnB>
                  </a:tcPr>
                </a:tc>
                <a:extLst>
                  <a:ext uri="{0D108BD9-81ED-4DB2-BD59-A6C34878D82A}">
                    <a16:rowId xmlns:a16="http://schemas.microsoft.com/office/drawing/2014/main" val="152617156"/>
                  </a:ext>
                </a:extLst>
              </a:tr>
              <a:tr h="315894">
                <a:tc>
                  <a:txBody>
                    <a:bodyPr/>
                    <a:lstStyle/>
                    <a:p>
                      <a:r>
                        <a:rPr lang="en-US" sz="1400"/>
                        <a:t>subsample</a:t>
                      </a:r>
                    </a:p>
                  </a:txBody>
                  <a:tcPr marL="59172" marR="59172" marT="29586" marB="29586" anchor="ctr">
                    <a:lnL>
                      <a:noFill/>
                    </a:lnL>
                    <a:lnR>
                      <a:noFill/>
                    </a:lnR>
                    <a:lnT>
                      <a:noFill/>
                    </a:lnT>
                    <a:lnB>
                      <a:noFill/>
                    </a:lnB>
                  </a:tcPr>
                </a:tc>
                <a:tc>
                  <a:txBody>
                    <a:bodyPr/>
                    <a:lstStyle/>
                    <a:p>
                      <a:r>
                        <a:rPr lang="en-US" sz="1400"/>
                        <a:t>Sets the proportion of training observations sampled for each boosting round.</a:t>
                      </a:r>
                    </a:p>
                  </a:txBody>
                  <a:tcPr marL="59172" marR="59172" marT="29586" marB="29586" anchor="ctr">
                    <a:lnL>
                      <a:noFill/>
                    </a:lnL>
                    <a:lnR>
                      <a:noFill/>
                    </a:lnR>
                    <a:lnT>
                      <a:noFill/>
                    </a:lnT>
                    <a:lnB>
                      <a:noFill/>
                    </a:lnB>
                  </a:tcPr>
                </a:tc>
                <a:extLst>
                  <a:ext uri="{0D108BD9-81ED-4DB2-BD59-A6C34878D82A}">
                    <a16:rowId xmlns:a16="http://schemas.microsoft.com/office/drawing/2014/main" val="584620171"/>
                  </a:ext>
                </a:extLst>
              </a:tr>
              <a:tr h="315894">
                <a:tc>
                  <a:txBody>
                    <a:bodyPr/>
                    <a:lstStyle/>
                    <a:p>
                      <a:r>
                        <a:rPr lang="en-US" sz="1400"/>
                        <a:t>colsample_bytree</a:t>
                      </a:r>
                    </a:p>
                  </a:txBody>
                  <a:tcPr marL="59172" marR="59172" marT="29586" marB="29586" anchor="ctr">
                    <a:lnL>
                      <a:noFill/>
                    </a:lnL>
                    <a:lnR>
                      <a:noFill/>
                    </a:lnR>
                    <a:lnT>
                      <a:noFill/>
                    </a:lnT>
                    <a:lnB>
                      <a:noFill/>
                    </a:lnB>
                  </a:tcPr>
                </a:tc>
                <a:tc>
                  <a:txBody>
                    <a:bodyPr/>
                    <a:lstStyle/>
                    <a:p>
                      <a:r>
                        <a:rPr lang="en-US" sz="1400"/>
                        <a:t>Sets the proportion of features sampled for each tree.</a:t>
                      </a:r>
                    </a:p>
                  </a:txBody>
                  <a:tcPr marL="59172" marR="59172" marT="29586" marB="29586" anchor="ctr">
                    <a:lnL>
                      <a:noFill/>
                    </a:lnL>
                    <a:lnR>
                      <a:noFill/>
                    </a:lnR>
                    <a:lnT>
                      <a:noFill/>
                    </a:lnT>
                    <a:lnB>
                      <a:noFill/>
                    </a:lnB>
                  </a:tcPr>
                </a:tc>
                <a:extLst>
                  <a:ext uri="{0D108BD9-81ED-4DB2-BD59-A6C34878D82A}">
                    <a16:rowId xmlns:a16="http://schemas.microsoft.com/office/drawing/2014/main" val="652950391"/>
                  </a:ext>
                </a:extLst>
              </a:tr>
              <a:tr h="315894">
                <a:tc>
                  <a:txBody>
                    <a:bodyPr/>
                    <a:lstStyle/>
                    <a:p>
                      <a:r>
                        <a:rPr lang="en-US" sz="1400"/>
                        <a:t>gamma</a:t>
                      </a:r>
                    </a:p>
                  </a:txBody>
                  <a:tcPr marL="59172" marR="59172" marT="29586" marB="29586" anchor="ctr">
                    <a:lnL>
                      <a:noFill/>
                    </a:lnL>
                    <a:lnR>
                      <a:noFill/>
                    </a:lnR>
                    <a:lnT>
                      <a:noFill/>
                    </a:lnT>
                    <a:lnB>
                      <a:noFill/>
                    </a:lnB>
                  </a:tcPr>
                </a:tc>
                <a:tc>
                  <a:txBody>
                    <a:bodyPr/>
                    <a:lstStyle/>
                    <a:p>
                      <a:r>
                        <a:rPr lang="en-US" sz="1400"/>
                        <a:t>Sets the minimum loss reduction required to split a node. Higher values discourage additional splits.</a:t>
                      </a:r>
                    </a:p>
                  </a:txBody>
                  <a:tcPr marL="59172" marR="59172" marT="29586" marB="29586" anchor="ctr">
                    <a:lnL>
                      <a:noFill/>
                    </a:lnL>
                    <a:lnR>
                      <a:noFill/>
                    </a:lnR>
                    <a:lnT>
                      <a:noFill/>
                    </a:lnT>
                    <a:lnB>
                      <a:noFill/>
                    </a:lnB>
                  </a:tcPr>
                </a:tc>
                <a:extLst>
                  <a:ext uri="{0D108BD9-81ED-4DB2-BD59-A6C34878D82A}">
                    <a16:rowId xmlns:a16="http://schemas.microsoft.com/office/drawing/2014/main" val="1793031450"/>
                  </a:ext>
                </a:extLst>
              </a:tr>
              <a:tr h="315894">
                <a:tc>
                  <a:txBody>
                    <a:bodyPr/>
                    <a:lstStyle/>
                    <a:p>
                      <a:r>
                        <a:rPr lang="en-US" sz="1400"/>
                        <a:t>reg_alpha</a:t>
                      </a:r>
                    </a:p>
                  </a:txBody>
                  <a:tcPr marL="59172" marR="59172" marT="29586" marB="29586" anchor="ctr">
                    <a:lnL>
                      <a:noFill/>
                    </a:lnL>
                    <a:lnR>
                      <a:noFill/>
                    </a:lnR>
                    <a:lnT>
                      <a:noFill/>
                    </a:lnT>
                    <a:lnB>
                      <a:noFill/>
                    </a:lnB>
                  </a:tcPr>
                </a:tc>
                <a:tc>
                  <a:txBody>
                    <a:bodyPr/>
                    <a:lstStyle/>
                    <a:p>
                      <a:r>
                        <a:rPr lang="en-US" sz="1400"/>
                        <a:t>Applies L1 regularization to leaf weights, encouraging some weights to become zero.</a:t>
                      </a:r>
                    </a:p>
                  </a:txBody>
                  <a:tcPr marL="59172" marR="59172" marT="29586" marB="29586" anchor="ctr">
                    <a:lnL>
                      <a:noFill/>
                    </a:lnL>
                    <a:lnR>
                      <a:noFill/>
                    </a:lnR>
                    <a:lnT>
                      <a:noFill/>
                    </a:lnT>
                    <a:lnB>
                      <a:noFill/>
                    </a:lnB>
                  </a:tcPr>
                </a:tc>
                <a:extLst>
                  <a:ext uri="{0D108BD9-81ED-4DB2-BD59-A6C34878D82A}">
                    <a16:rowId xmlns:a16="http://schemas.microsoft.com/office/drawing/2014/main" val="633375577"/>
                  </a:ext>
                </a:extLst>
              </a:tr>
              <a:tr h="315894">
                <a:tc>
                  <a:txBody>
                    <a:bodyPr/>
                    <a:lstStyle/>
                    <a:p>
                      <a:r>
                        <a:rPr lang="en-US" sz="1400"/>
                        <a:t>reg_lambda</a:t>
                      </a:r>
                    </a:p>
                  </a:txBody>
                  <a:tcPr marL="59172" marR="59172" marT="29586" marB="29586" anchor="ctr">
                    <a:lnL>
                      <a:noFill/>
                    </a:lnL>
                    <a:lnR>
                      <a:noFill/>
                    </a:lnR>
                    <a:lnT>
                      <a:noFill/>
                    </a:lnT>
                    <a:lnB>
                      <a:noFill/>
                    </a:lnB>
                  </a:tcPr>
                </a:tc>
                <a:tc>
                  <a:txBody>
                    <a:bodyPr/>
                    <a:lstStyle/>
                    <a:p>
                      <a:r>
                        <a:rPr lang="en-US" sz="1400"/>
                        <a:t>Applies L2 regularization to leaf weights, reducing excessively large weights.</a:t>
                      </a:r>
                    </a:p>
                  </a:txBody>
                  <a:tcPr marL="59172" marR="59172" marT="29586" marB="29586" anchor="ctr">
                    <a:lnL>
                      <a:noFill/>
                    </a:lnL>
                    <a:lnR>
                      <a:noFill/>
                    </a:lnR>
                    <a:lnT>
                      <a:noFill/>
                    </a:lnT>
                    <a:lnB>
                      <a:noFill/>
                    </a:lnB>
                  </a:tcPr>
                </a:tc>
                <a:extLst>
                  <a:ext uri="{0D108BD9-81ED-4DB2-BD59-A6C34878D82A}">
                    <a16:rowId xmlns:a16="http://schemas.microsoft.com/office/drawing/2014/main" val="622957122"/>
                  </a:ext>
                </a:extLst>
              </a:tr>
              <a:tr h="315894">
                <a:tc>
                  <a:txBody>
                    <a:bodyPr/>
                    <a:lstStyle/>
                    <a:p>
                      <a:r>
                        <a:rPr lang="en-US" sz="1400"/>
                        <a:t>objective</a:t>
                      </a:r>
                    </a:p>
                  </a:txBody>
                  <a:tcPr marL="59172" marR="59172" marT="29586" marB="29586" anchor="ctr">
                    <a:lnL>
                      <a:noFill/>
                    </a:lnL>
                    <a:lnR>
                      <a:noFill/>
                    </a:lnR>
                    <a:lnT>
                      <a:noFill/>
                    </a:lnT>
                    <a:lnB>
                      <a:noFill/>
                    </a:lnB>
                  </a:tcPr>
                </a:tc>
                <a:tc>
                  <a:txBody>
                    <a:bodyPr/>
                    <a:lstStyle/>
                    <a:p>
                      <a:r>
                        <a:rPr lang="en-US" sz="1400"/>
                        <a:t>Specifies the training loss. 'reg:squarederror' is commonly used for regression.</a:t>
                      </a:r>
                    </a:p>
                  </a:txBody>
                  <a:tcPr marL="59172" marR="59172" marT="29586" marB="29586" anchor="ctr">
                    <a:lnL>
                      <a:noFill/>
                    </a:lnL>
                    <a:lnR>
                      <a:noFill/>
                    </a:lnR>
                    <a:lnT>
                      <a:noFill/>
                    </a:lnT>
                    <a:lnB>
                      <a:noFill/>
                    </a:lnB>
                  </a:tcPr>
                </a:tc>
                <a:extLst>
                  <a:ext uri="{0D108BD9-81ED-4DB2-BD59-A6C34878D82A}">
                    <a16:rowId xmlns:a16="http://schemas.microsoft.com/office/drawing/2014/main" val="1066173201"/>
                  </a:ext>
                </a:extLst>
              </a:tr>
              <a:tr h="315894">
                <a:tc>
                  <a:txBody>
                    <a:bodyPr/>
                    <a:lstStyle/>
                    <a:p>
                      <a:r>
                        <a:rPr lang="en-US" sz="1400"/>
                        <a:t>tree_method</a:t>
                      </a:r>
                    </a:p>
                  </a:txBody>
                  <a:tcPr marL="59172" marR="59172" marT="29586" marB="29586" anchor="ctr">
                    <a:lnL>
                      <a:noFill/>
                    </a:lnL>
                    <a:lnR>
                      <a:noFill/>
                    </a:lnR>
                    <a:lnT>
                      <a:noFill/>
                    </a:lnT>
                    <a:lnB>
                      <a:noFill/>
                    </a:lnB>
                  </a:tcPr>
                </a:tc>
                <a:tc>
                  <a:txBody>
                    <a:bodyPr/>
                    <a:lstStyle/>
                    <a:p>
                      <a:r>
                        <a:rPr lang="en-US" sz="1400"/>
                        <a:t>Specifies how trees are constructed. 'hist' uses histogram-based split calculations.</a:t>
                      </a:r>
                    </a:p>
                  </a:txBody>
                  <a:tcPr marL="59172" marR="59172" marT="29586" marB="29586" anchor="ctr">
                    <a:lnL>
                      <a:noFill/>
                    </a:lnL>
                    <a:lnR>
                      <a:noFill/>
                    </a:lnR>
                    <a:lnT>
                      <a:noFill/>
                    </a:lnT>
                    <a:lnB>
                      <a:noFill/>
                    </a:lnB>
                  </a:tcPr>
                </a:tc>
                <a:extLst>
                  <a:ext uri="{0D108BD9-81ED-4DB2-BD59-A6C34878D82A}">
                    <a16:rowId xmlns:a16="http://schemas.microsoft.com/office/drawing/2014/main" val="1026034506"/>
                  </a:ext>
                </a:extLst>
              </a:tr>
              <a:tr h="315894">
                <a:tc>
                  <a:txBody>
                    <a:bodyPr/>
                    <a:lstStyle/>
                    <a:p>
                      <a:r>
                        <a:rPr lang="en-US" sz="1400"/>
                        <a:t>random_state</a:t>
                      </a:r>
                    </a:p>
                  </a:txBody>
                  <a:tcPr marL="59172" marR="59172" marT="29586" marB="29586" anchor="ctr">
                    <a:lnL>
                      <a:noFill/>
                    </a:lnL>
                    <a:lnR>
                      <a:noFill/>
                    </a:lnR>
                    <a:lnT>
                      <a:noFill/>
                    </a:lnT>
                    <a:lnB>
                      <a:noFill/>
                    </a:lnB>
                  </a:tcPr>
                </a:tc>
                <a:tc>
                  <a:txBody>
                    <a:bodyPr/>
                    <a:lstStyle/>
                    <a:p>
                      <a:r>
                        <a:rPr lang="en-US" sz="1400"/>
                        <a:t>Sets the random seed to help make results reproducible.</a:t>
                      </a:r>
                    </a:p>
                  </a:txBody>
                  <a:tcPr marL="59172" marR="59172" marT="29586" marB="29586" anchor="ctr">
                    <a:lnL>
                      <a:noFill/>
                    </a:lnL>
                    <a:lnR>
                      <a:noFill/>
                    </a:lnR>
                    <a:lnT>
                      <a:noFill/>
                    </a:lnT>
                    <a:lnB>
                      <a:noFill/>
                    </a:lnB>
                  </a:tcPr>
                </a:tc>
                <a:extLst>
                  <a:ext uri="{0D108BD9-81ED-4DB2-BD59-A6C34878D82A}">
                    <a16:rowId xmlns:a16="http://schemas.microsoft.com/office/drawing/2014/main" val="1977425903"/>
                  </a:ext>
                </a:extLst>
              </a:tr>
              <a:tr h="315894">
                <a:tc>
                  <a:txBody>
                    <a:bodyPr/>
                    <a:lstStyle/>
                    <a:p>
                      <a:r>
                        <a:rPr lang="en-US" sz="1400"/>
                        <a:t>n_jobs</a:t>
                      </a:r>
                    </a:p>
                  </a:txBody>
                  <a:tcPr marL="59172" marR="59172" marT="29586" marB="29586" anchor="ctr">
                    <a:lnL>
                      <a:noFill/>
                    </a:lnL>
                    <a:lnR>
                      <a:noFill/>
                    </a:lnR>
                    <a:lnT>
                      <a:noFill/>
                    </a:lnT>
                    <a:lnB>
                      <a:noFill/>
                    </a:lnB>
                  </a:tcPr>
                </a:tc>
                <a:tc>
                  <a:txBody>
                    <a:bodyPr/>
                    <a:lstStyle/>
                    <a:p>
                      <a:r>
                        <a:rPr lang="en-US" sz="1400"/>
                        <a:t>Sets the number of CPU threads used during training.</a:t>
                      </a:r>
                    </a:p>
                  </a:txBody>
                  <a:tcPr marL="59172" marR="59172" marT="29586" marB="29586" anchor="ctr">
                    <a:lnL>
                      <a:noFill/>
                    </a:lnL>
                    <a:lnR>
                      <a:noFill/>
                    </a:lnR>
                    <a:lnT>
                      <a:noFill/>
                    </a:lnT>
                    <a:lnB>
                      <a:noFill/>
                    </a:lnB>
                  </a:tcPr>
                </a:tc>
                <a:extLst>
                  <a:ext uri="{0D108BD9-81ED-4DB2-BD59-A6C34878D82A}">
                    <a16:rowId xmlns:a16="http://schemas.microsoft.com/office/drawing/2014/main" val="3225253238"/>
                  </a:ext>
                </a:extLst>
              </a:tr>
            </a:tbl>
          </a:graphicData>
        </a:graphic>
      </p:graphicFrame>
    </p:spTree>
    <p:extLst>
      <p:ext uri="{BB962C8B-B14F-4D97-AF65-F5344CB8AC3E}">
        <p14:creationId xmlns:p14="http://schemas.microsoft.com/office/powerpoint/2010/main" val="388990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137159" y="151598"/>
            <a:ext cx="11924209" cy="528186"/>
          </a:xfrm>
        </p:spPr>
        <p:txBody>
          <a:bodyPr anchor="ctr">
            <a:normAutofit/>
          </a:bodyPr>
          <a:lstStyle/>
          <a:p>
            <a:r>
              <a:rPr lang="en-US" dirty="0"/>
              <a:t>Python Code</a:t>
            </a:r>
          </a:p>
        </p:txBody>
      </p:sp>
      <p:pic>
        <p:nvPicPr>
          <p:cNvPr id="3" name="Picture 2">
            <a:extLst>
              <a:ext uri="{FF2B5EF4-FFF2-40B4-BE49-F238E27FC236}">
                <a16:creationId xmlns:a16="http://schemas.microsoft.com/office/drawing/2014/main" id="{4BD462B7-2934-47DE-A017-B213A995D7D1}"/>
              </a:ext>
            </a:extLst>
          </p:cNvPr>
          <p:cNvPicPr>
            <a:picLocks noChangeAspect="1"/>
          </p:cNvPicPr>
          <p:nvPr/>
        </p:nvPicPr>
        <p:blipFill>
          <a:blip r:embed="rId2"/>
          <a:srcRect r="11780" b="-1"/>
          <a:stretch>
            <a:fillRect/>
          </a:stretch>
        </p:blipFill>
        <p:spPr>
          <a:xfrm>
            <a:off x="137159" y="776036"/>
            <a:ext cx="11924209" cy="5676965"/>
          </a:xfrm>
          <a:prstGeom prst="rect">
            <a:avLst/>
          </a:prstGeom>
          <a:noFill/>
        </p:spPr>
      </p:pic>
    </p:spTree>
    <p:extLst>
      <p:ext uri="{BB962C8B-B14F-4D97-AF65-F5344CB8AC3E}">
        <p14:creationId xmlns:p14="http://schemas.microsoft.com/office/powerpoint/2010/main" val="273109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372533" y="548639"/>
            <a:ext cx="3494314" cy="5719639"/>
          </a:xfrm>
        </p:spPr>
        <p:txBody>
          <a:bodyPr anchor="t">
            <a:normAutofit/>
          </a:bodyPr>
          <a:lstStyle/>
          <a:p>
            <a:r>
              <a:rPr lang="en-US" dirty="0"/>
              <a:t>How AdaBoost Regression Works</a:t>
            </a:r>
          </a:p>
        </p:txBody>
      </p:sp>
      <p:graphicFrame>
        <p:nvGraphicFramePr>
          <p:cNvPr id="6" name="Content Placeholder 3">
            <a:extLst>
              <a:ext uri="{FF2B5EF4-FFF2-40B4-BE49-F238E27FC236}">
                <a16:creationId xmlns:a16="http://schemas.microsoft.com/office/drawing/2014/main" id="{2825B660-10BC-7459-C38E-2AE9041E2AA0}"/>
              </a:ext>
            </a:extLst>
          </p:cNvPr>
          <p:cNvGraphicFramePr>
            <a:graphicFrameLocks noGrp="1"/>
          </p:cNvGraphicFramePr>
          <p:nvPr>
            <p:ph sz="quarter" idx="13"/>
            <p:extLst>
              <p:ext uri="{D42A27DB-BD31-4B8C-83A1-F6EECF244321}">
                <p14:modId xmlns:p14="http://schemas.microsoft.com/office/powerpoint/2010/main" val="17758445"/>
              </p:ext>
            </p:extLst>
          </p:nvPr>
        </p:nvGraphicFramePr>
        <p:xfrm>
          <a:off x="4504268" y="549274"/>
          <a:ext cx="7315200" cy="5806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755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372533" y="548639"/>
            <a:ext cx="3494314" cy="5719639"/>
          </a:xfrm>
        </p:spPr>
        <p:txBody>
          <a:bodyPr anchor="t">
            <a:normAutofit/>
          </a:bodyPr>
          <a:lstStyle/>
          <a:p>
            <a:r>
              <a:rPr lang="en-US" dirty="0"/>
              <a:t>Key Features That Make </a:t>
            </a:r>
            <a:r>
              <a:rPr lang="en-US" dirty="0" err="1"/>
              <a:t>XGBoost</a:t>
            </a:r>
            <a:r>
              <a:rPr lang="en-US" dirty="0"/>
              <a:t> Superior</a:t>
            </a:r>
          </a:p>
        </p:txBody>
      </p:sp>
      <p:graphicFrame>
        <p:nvGraphicFramePr>
          <p:cNvPr id="6" name="Content Placeholder 3">
            <a:extLst>
              <a:ext uri="{FF2B5EF4-FFF2-40B4-BE49-F238E27FC236}">
                <a16:creationId xmlns:a16="http://schemas.microsoft.com/office/drawing/2014/main" id="{2E4DF515-59A7-E890-7A35-C60CDEA8ADF5}"/>
              </a:ext>
            </a:extLst>
          </p:cNvPr>
          <p:cNvGraphicFramePr>
            <a:graphicFrameLocks noGrp="1"/>
          </p:cNvGraphicFramePr>
          <p:nvPr>
            <p:ph sz="quarter" idx="13"/>
            <p:extLst>
              <p:ext uri="{D42A27DB-BD31-4B8C-83A1-F6EECF244321}">
                <p14:modId xmlns:p14="http://schemas.microsoft.com/office/powerpoint/2010/main" val="1779688127"/>
              </p:ext>
            </p:extLst>
          </p:nvPr>
        </p:nvGraphicFramePr>
        <p:xfrm>
          <a:off x="4504268" y="549274"/>
          <a:ext cx="7315200" cy="5806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1133448"/>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2E174-8201-44C8-8E86-D532E6482AA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815C017-F059-461C-B5CA-F74FA8291930}">
  <ds:schemaRefs>
    <ds:schemaRef ds:uri="http://schemas.microsoft.com/sharepoint/v3/contenttype/forms"/>
  </ds:schemaRefs>
</ds:datastoreItem>
</file>

<file path=customXml/itemProps3.xml><?xml version="1.0" encoding="utf-8"?>
<ds:datastoreItem xmlns:ds="http://schemas.openxmlformats.org/officeDocument/2006/customXml" ds:itemID="{AF7CFCFE-9E11-486F-94A1-AD5EF62DEC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1</TotalTime>
  <Words>494</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Neue Haas Grotesk Text Pro</vt:lpstr>
      <vt:lpstr>Helena</vt:lpstr>
      <vt:lpstr>Boosting Algorithm – XG_Boost_Regression</vt:lpstr>
      <vt:lpstr>XG_Boost Regression</vt:lpstr>
      <vt:lpstr>PowerPoint Presentation</vt:lpstr>
      <vt:lpstr>XGBoost Regressor — Key Parameters and Their Purpose</vt:lpstr>
      <vt:lpstr>Python Code</vt:lpstr>
      <vt:lpstr>How AdaBoost Regression Works</vt:lpstr>
      <vt:lpstr>Key Features That Make XGBoost Superior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Boosting Algorithm – XG_Boost_Regression</dc:title>
  <dc:creator>Rousan Meerasa</dc:creator>
  <cp:lastModifiedBy>Rousan Meerasa</cp:lastModifiedBy>
  <cp:revision>1</cp:revision>
  <dcterms:created xsi:type="dcterms:W3CDTF">2026-10-06T15:11:35Z</dcterms:created>
  <dcterms:modified xsi:type="dcterms:W3CDTF">2026-10-06T15:13:05Z</dcterms:modified>
</cp:coreProperties>
</file>